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2A44"/>
                </a:solidFill>
              </a:rPr>
              <a:t>EDM Baseline  vs  CRUMB DDPM  vs  Classifier-Guided Diffusion</a:t>
            </a:r>
          </a:p>
          <a:p>
            <a:r>
              <a:rPr sz="1500">
                <a:solidFill>
                  <a:srgbClr val="555555"/>
                </a:solidFill>
              </a:rPr>
              <a:t>Class-conditional FR-I / FR-II radio-galaxy generation  ·  CRUMB FITS, 150x150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Key differences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00400"/>
                <a:gridCol w="3291840"/>
                <a:gridCol w="3017520"/>
              </a:tblGrid>
              <a:tr h="52578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EDM baseline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diffusion (DDPM)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CGD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literature reference</a:t>
                      </a:r>
                    </a:p>
                    <a:p>
                      <a:r>
                        <a:t>(Vicanek Martinez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this project's</a:t>
                      </a:r>
                    </a:p>
                    <a:p>
                      <a:r>
                        <a:t>CRUMB-dataset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DDPM + external steer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U-Net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UNet2DModel, ~29.8M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UNet2DConditionModel, ~95.9M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same as DDPM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Conditioning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additive class 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Noise process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continuous sigma (Karras)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Target /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clean image / sigma-weighted L2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Sampler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Heun ODE, 25 steps, EMA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Guidance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(3.0)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 + frozen-classifier</a:t>
                      </a:r>
                    </a:p>
                    <a:p>
                      <a:r>
                        <a:t>gradient at low noise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Shared: task, CRUMB FITS pipeline, symmetric-log-SNR normalisation, CFG-style class conditioning, FID/KID/PDF evaluation.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/>
              <a:t>Distributional metrics (best over training)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645920"/>
                <a:gridCol w="1828800"/>
                <a:gridCol w="219456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pixel-PDF W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Epochs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 baseline  (mean ± std, n=5: seeds 42-46)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87.3 ± 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0.048 ± 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0.0036 ± 0.0009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diffusion (DDPM+CFG)  (mean ± std, n=4: seeds 42-45)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73.4 ± 1.4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0.021 ± 0.003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0.0077 ± 0.0021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  (mean ± std, n=5: seeds 42-46)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74.4 ± 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0.024 ± 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0.0078 ± 0.0009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461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EDM and CGD have all 5 seeds; DDPM has 4 (seed 46 hit its time limit at epoch 260). Std is the sample std across seeds.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/>
              <a:t>CRUMB VQ-VAE reconstruction fidelity  (VQ-VAE trained only on real CRUMB)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5196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18872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Passed through the CRUMB VQ-VAE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Real held-out CRUMB 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EDM-generated (latest, final)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0.00271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CGD-generated (latest, ep 290)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Over 5 seeds CGD is level with DDPM (seed 42's FID 66.8 was its best seed; others 72.9-80.5). Both beat EDM on FID/KID; EDM keeps the best pixel-PDF W. DDPM best on VQ-VAE reconstruction fidelity.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Classifier accuracy on generated samples</a:t>
            </a:r>
          </a:p>
          <a:p>
            <a:r>
              <a:rPr sz="1300">
                <a:solidFill>
                  <a:srgbClr val="555555"/>
                </a:solidFill>
              </a:rPr>
              <a:t>Does the model generate the class it was asked for?  128 samples per class per seed, scored by a held-out classifier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822960"/>
                <a:gridCol w="1920240"/>
                <a:gridCol w="1737360"/>
                <a:gridCol w="1737360"/>
                <a:gridCol w="173736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Class accuracy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FR-I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FR-II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Mean confidence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A44"/>
                          </a:solidFill>
                        </a:rPr>
                        <a:t>Real CRUMB test images 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78.1 %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84.6 %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73.0 %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A44"/>
                          </a:solidFill>
                        </a:rPr>
                        <a:t>EDM baseline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80.7 ± 1.8 %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71.6 ± 6.5 %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89.8 ± 3.5 %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0.743 ± 0.014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A44"/>
                          </a:solidFill>
                        </a:rPr>
                        <a:t>diffusion (DDPM+CFG)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96.5 ± 1.5 %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93.0 ± 2.9 %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100.0 ± 0.0 %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0.910 ± 0.015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A44"/>
                          </a:solidFill>
                        </a:rPr>
                        <a:t>CGD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97.1 ± 2.4 %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95.3 ± 2.9 %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98.9 ± 2.0 %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0.891 ± 0.049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300">
                <a:solidFill>
                  <a:srgbClr val="555555"/>
                </a:solidFill>
              </a:rPr>
              <a:t>- A model matching real data would score like the reference row, not 100%. DDPM/CGD overshoot on both classes: their samples are more clear-cut than real galaxies.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555555"/>
                </a:solidFill>
              </a:rPr>
              <a:t>- EDM is close to real overall but reverses the per-class pattern (FR-I 72% vs real 85%, FR-II 90% vs 73%): its FR-I samples often look FR-II.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555555"/>
                </a:solidFill>
              </a:rPr>
              <a:t>- DDPM and CGD are indistinguishable; CGD seed 46 is the outlier under both scoring classifiers, so it is a model effect.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555555"/>
                </a:solidFill>
              </a:rPr>
              <a:t>- Confound: EDM samples at CFG 3.0, DDPM/CGD at 7.5 - stronger guidance exaggerates class features.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Scored by eval_fits_bs8_seed42 (SimpleCNN, crumb_fits domain, never used to guide CGD; real-test reference from its confusion matrix, n=178). Mean ± sample std across seeds. DDPM seed 46 incomplete.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Metrics vs epoch</a:t>
            </a:r>
          </a:p>
        </p:txBody>
      </p:sp>
      <p:pic>
        <p:nvPicPr>
          <p:cNvPr id="3" name="Picture 2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11521440" cy="3785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CRUMB VQ-VAE reconstruction</a:t>
            </a:r>
          </a:p>
          <a:p>
            <a:r>
              <a:rPr sz="1300">
                <a:solidFill>
                  <a:srgbClr val="555555"/>
                </a:solidFill>
              </a:rPr>
              <a:t>Generated images passed through a VQ-VAE trained only on real CRUMB - does their structure lie on the CRUMB manifold?</a:t>
            </a:r>
          </a:p>
        </p:txBody>
      </p:sp>
      <p:pic>
        <p:nvPicPr>
          <p:cNvPr id="3" name="Picture 2" descr="rec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873238" cy="3749039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5486400"/>
          <a:ext cx="64008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645920"/>
                <a:gridCol w="1645920"/>
              </a:tblGrid>
              <a:tr h="237744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Real CRUMB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EDM-generated (latest, final)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0.00271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CGD-generated (latest, ep 290)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0.00300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0" y="1828800"/>
            <a:ext cx="4480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One example pair per model (col 1 input, col 2 reconstruction).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All models reconstruct at least as well as real held-out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DDPM has the highest NCC this round - most CRUMB-like morphology.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MSE flatters all models: generated fields are smoother than real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Per-model example galleries on the following slides.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Real CRUMB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ru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EDM-generated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e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DDPM-generated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dd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CGD-generated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g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Samples  (left cols FR-I  ·  right cols FR-II)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Real CRUMB  (ground truth)</a:t>
            </a:r>
          </a:p>
        </p:txBody>
      </p:sp>
      <p:pic>
        <p:nvPicPr>
          <p:cNvPr id="4" name="Picture 3" descr="crumb_groundtruth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846320" cy="27679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EDM baseline (latest, 400 ep) - epoch 320</a:t>
            </a:r>
          </a:p>
        </p:txBody>
      </p:sp>
      <p:pic>
        <p:nvPicPr>
          <p:cNvPr id="6" name="Picture 5" descr="comparison_epoch_3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4846320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DDPM (latest, 400 ep) - epoch 390</a:t>
            </a:r>
          </a:p>
        </p:txBody>
      </p:sp>
      <p:pic>
        <p:nvPicPr>
          <p:cNvPr id="8" name="Picture 7" descr="comparison_epoch_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480559"/>
            <a:ext cx="4846320" cy="2423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CGD (latest, 400 ep) - epoch 390</a:t>
            </a:r>
          </a:p>
        </p:txBody>
      </p:sp>
      <p:pic>
        <p:nvPicPr>
          <p:cNvPr id="10" name="Picture 9" descr="comparison_epoch_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480559"/>
            <a:ext cx="4846320" cy="2423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