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3"/>
  </p:normalViewPr>
  <p:slideViewPr>
    <p:cSldViewPr snapToGrid="0" snapToObjects="1">
      <p:cViewPr varScale="1">
        <p:scale>
          <a:sx n="126" d="100"/>
          <a:sy n="126" d="100"/>
        </p:scale>
        <p:origin x="232" y="2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56032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2A44"/>
                </a:solidFill>
              </a:rPr>
              <a:t>EDM Baseline  vs  CRUMB DDPM  vs  Classifier-Guided Diffusion</a:t>
            </a:r>
          </a:p>
          <a:p>
            <a:r>
              <a:rPr sz="1500">
                <a:solidFill>
                  <a:srgbClr val="555555"/>
                </a:solidFill>
              </a:rPr>
              <a:t>Class-conditional FR-I / FR-II radio-galaxy generation  ·  CRUMB FITS, 150x150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Key differences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267929"/>
              </p:ext>
            </p:extLst>
          </p:nvPr>
        </p:nvGraphicFramePr>
        <p:xfrm>
          <a:off x="457200" y="1371600"/>
          <a:ext cx="112471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2578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EDM baseline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diffusion (DDPM)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CGD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Role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F2A44"/>
                          </a:solidFill>
                        </a:rPr>
                        <a:t>literature reference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F2A44"/>
                          </a:solidFill>
                        </a:rPr>
                        <a:t>this project</a:t>
                      </a:r>
                      <a:r>
                        <a:rPr lang="en-ZA" sz="1200" dirty="0">
                          <a:solidFill>
                            <a:srgbClr val="1F2A44"/>
                          </a:solidFill>
                        </a:rPr>
                        <a:t>'</a:t>
                      </a:r>
                      <a:r>
                        <a:rPr sz="1200" dirty="0">
                          <a:solidFill>
                            <a:srgbClr val="1F2A44"/>
                          </a:solidFill>
                        </a:rPr>
                        <a:t>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DDPM + external steer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U-Net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F2A44"/>
                          </a:solidFill>
                        </a:rPr>
                        <a:t>UNet2DModel, ~29.8M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F2A44"/>
                          </a:solidFill>
                        </a:rPr>
                        <a:t>UNet2DConditionModel, ~95.9M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same as DDPM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Conditioning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additive class embedding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F2A44"/>
                          </a:solidFill>
                        </a:rPr>
                        <a:t>cross-attention (dim 256)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cross-attention (dim 256)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Noise process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continuous sigma (Karras)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1000-step discrete, linear beta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1000-step discrete, linear beta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Target / 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clean image / sigma-weighted L2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noise (epsilon) / plain 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noise (epsilon) / plain 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Sampler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Heun ODE, 25 steps, EMA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ancestral DDPM, 50 steps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ancestral DDPM, 50 steps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Guidance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CFG (3.0)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CFG (7.5)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F2A44"/>
                          </a:solidFill>
                        </a:rPr>
                        <a:t>CFG (7.5) + frozen-classifier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55555"/>
                </a:solidFill>
              </a:rPr>
              <a:t>Shared: task, CRUMB FITS pipeline, symmetric-log-SNR normalisation, CFG-style class conditioning, FID/KID/PDF evaluation.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/>
              <a:t>Distributional metrics (best over training)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3565073"/>
              </p:ext>
            </p:extLst>
          </p:nvPr>
        </p:nvGraphicFramePr>
        <p:xfrm>
          <a:off x="457200" y="155448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FID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KID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pixel-PDF W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Epochs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EDM baseline  (mean ± std, n=5: seeds 42-46)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87.3 ± 5.0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0.048 ± 0.005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0.0036 ± 0.0009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F2A44"/>
                          </a:solidFill>
                        </a:rPr>
                        <a:t>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diffusion (DDPM+CFG)  (mean ± std, n=4: seeds 42-45)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73.4 ± 1.4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0.021 ± 0.003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0.0077 ± 0.0021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F2A44"/>
                          </a:solidFill>
                        </a:rPr>
                        <a:t>400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CGD  (mean ± std, n=5: seeds 42-46)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74.4 ± 5.2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0.024 ± 0.005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0.0078 ± 0.0009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F2A44"/>
                          </a:solidFill>
                        </a:rPr>
                        <a:t>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24612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55555"/>
                </a:solidFill>
              </a:rPr>
              <a:t>EDM and CGD have all 5 seeds; DDPM has 4 (seed 46 hit its time limit at epoch 260). Std is the sample std across seeds.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/>
              <a:t>CRUMB VQ-VAE reconstruction fidelity  (VQ-VAE trained only on real CRUMB)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4251960"/>
          <a:ext cx="1143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Passed through the CRUMB VQ-VAE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Recon MSE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Recon NCC ↑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Real held-out CRUMB  (reference)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0.00377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0.652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EDM-generated (latest, final)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0.00271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0.763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DDPM-generated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0.00174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0.771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CGD-generated (latest, ep 290)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0.00300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0.725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55555"/>
                </a:solidFill>
              </a:rPr>
              <a:t>Over 5 seeds CGD is level with DDPM (seed 42's FID 66.8 was its best seed; others 72.9-80.5). Both beat EDM on FID/KID; EDM keeps the best pixel-PDF W. DDPM best on VQ-VAE reconstruction fidelity.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Classifier accuracy on generated samples</a:t>
            </a:r>
          </a:p>
          <a:p>
            <a:r>
              <a:rPr sz="1300">
                <a:solidFill>
                  <a:srgbClr val="555555"/>
                </a:solidFill>
              </a:rPr>
              <a:t>Does the model generate the class it was asked for?  128 samples per class per seed, scored by a held-out classifier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46304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Seeds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Class accuracy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FR-I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FR-II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Mean confidence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2A44"/>
                          </a:solidFill>
                        </a:rPr>
                        <a:t>Real CRUMB test images  (reference)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78.1 %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84.6 %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73.0 %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2A44"/>
                          </a:solidFill>
                        </a:rPr>
                        <a:t>EDM baseline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80.7 ± 1.8 %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71.6 ± 6.5 %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89.8 ± 3.5 %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0.743 ± 0.014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2A44"/>
                          </a:solidFill>
                        </a:rPr>
                        <a:t>diffusion (DDPM+CFG)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96.5 ± 1.5 %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93.0 ± 2.9 %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100.0 ± 0.0 %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0.910 ± 0.015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F2A44"/>
                          </a:solidFill>
                        </a:rPr>
                        <a:t>CGD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97.1 ± 2.4 %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95.3 ± 2.9 %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98.9 ± 2.0 %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2A44"/>
                          </a:solidFill>
                        </a:rPr>
                        <a:t>0.891 ± 0.049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840480"/>
            <a:ext cx="11247120" cy="8720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spcAft>
                <a:spcPts val="800"/>
              </a:spcAft>
            </a:pPr>
            <a:r>
              <a:rPr sz="1300" dirty="0">
                <a:solidFill>
                  <a:srgbClr val="555555"/>
                </a:solidFill>
              </a:rPr>
              <a:t>- DDPM and CGD are indistinguishable; CGD seed 46 is the outlier under both scoring classifiers, so it is a model effect.</a:t>
            </a:r>
          </a:p>
          <a:p>
            <a:pPr>
              <a:spcAft>
                <a:spcPts val="800"/>
              </a:spcAft>
            </a:pPr>
            <a:r>
              <a:rPr sz="1300" dirty="0">
                <a:solidFill>
                  <a:srgbClr val="555555"/>
                </a:solidFill>
              </a:rPr>
              <a:t>- Confound: EDM samples at CFG 3.0, DDPM/CGD at 7.5 - stronger guidance exaggerates class features.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55555"/>
                </a:solidFill>
              </a:rPr>
              <a:t>Scored by eval_fits_bs8_seed42 (SimpleCNN, crumb_fits domain, never used to guide CGD; real-test reference from its confusion matrix, n=178). Mean ± sample std across seeds. DDPM seed 46 incomplete.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Matched guidance: accuracy and FID vs CFG scale</a:t>
            </a:r>
          </a:p>
          <a:p>
            <a:r>
              <a:rPr sz="1300">
                <a:solidFill>
                  <a:srgbClr val="555555"/>
                </a:solidFill>
              </a:rPr>
              <a:t>Same checkpoints re-sampled at CFG 1.0 / 3.0 / 7.5 - separates architecture from guidance strength</a:t>
            </a:r>
          </a:p>
        </p:txBody>
      </p:sp>
      <p:pic>
        <p:nvPicPr>
          <p:cNvPr id="3" name="Picture 2" descr="guidance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234440"/>
            <a:ext cx="10058400" cy="3855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7492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</a:rPr>
              <a:t>- At every matched scale DDPM beats EDM on FID (50.9 vs 65.5, 50.4 vs 68.4, 61.0 vs 94.1) and on class accuracy up to 3.0 - the lead is architectural, not guidance.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</a:rPr>
              <a:t>- CFG 7.5 costs every model FID; 3.0 is the better operating point (best FID, accuracy nearest real). CGD's classifier gradient adds nothing over DDPM at any scale.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55555"/>
                </a:solidFill>
              </a:rPr>
              <a:t>FID from 256 generated images per seed vs the 357-image crumb_fits val split - not comparable in absolute terms to the training-time FID table.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Metrics vs epoch</a:t>
            </a:r>
          </a:p>
        </p:txBody>
      </p:sp>
      <p:pic>
        <p:nvPicPr>
          <p:cNvPr id="3" name="Picture 2" descr="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20240"/>
            <a:ext cx="11521440" cy="3785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CRUMB VQ-VAE reconstruction</a:t>
            </a:r>
          </a:p>
          <a:p>
            <a:r>
              <a:rPr sz="1300">
                <a:solidFill>
                  <a:srgbClr val="555555"/>
                </a:solidFill>
              </a:rPr>
              <a:t>Generated images passed through a VQ-VAE trained only on real CRUMB - does their structure lie on the CRUMB manifold?</a:t>
            </a:r>
          </a:p>
        </p:txBody>
      </p:sp>
      <p:pic>
        <p:nvPicPr>
          <p:cNvPr id="3" name="Picture 2" descr="rec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873238" cy="3749039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5486400"/>
          <a:ext cx="6400800" cy="140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MSE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NCC ↑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</a:rPr>
                        <a:t>Real CRUMB (reference)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0.00377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0.652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</a:rPr>
                        <a:t>EDM-generated (latest, final)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0.00271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0.763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</a:rPr>
                        <a:t>DDPM-generated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0.00174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0.771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</a:rPr>
                        <a:t>CGD-generated (latest, ep 290)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0.00300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0.725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0" y="1828800"/>
            <a:ext cx="4480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One example pair per model (col 1 input, col 2 reconstruction).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All models reconstruct at least as well as real held-out CRUMB.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DDPM has the highest NCC this round - most CRUMB-like morphology.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MSE flatters all models: generated fields are smoother than real CRUMB.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Per-model example galleries on the following slides.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Reconstruction examples - Real CRUMB</a:t>
            </a:r>
          </a:p>
          <a:p>
            <a:r>
              <a:rPr sz="1300">
                <a:solidFill>
                  <a:srgbClr val="555555"/>
                </a:solidFill>
              </a:rPr>
              <a:t>col 1 = input   ·   col 2 = CRUMB VQ-VAE reconstruction</a:t>
            </a:r>
          </a:p>
        </p:txBody>
      </p:sp>
      <p:pic>
        <p:nvPicPr>
          <p:cNvPr id="3" name="Picture 2" descr="recon_crum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234440"/>
            <a:ext cx="55880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Reconstruction examples - EDM-generated</a:t>
            </a:r>
          </a:p>
          <a:p>
            <a:r>
              <a:rPr sz="1300">
                <a:solidFill>
                  <a:srgbClr val="555555"/>
                </a:solidFill>
              </a:rPr>
              <a:t>col 1 = input   ·   col 2 = CRUMB VQ-VAE reconstruction</a:t>
            </a:r>
          </a:p>
        </p:txBody>
      </p:sp>
      <p:pic>
        <p:nvPicPr>
          <p:cNvPr id="3" name="Picture 2" descr="recon_ed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234440"/>
            <a:ext cx="55880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Reconstruction examples - DDPM-generated</a:t>
            </a:r>
          </a:p>
          <a:p>
            <a:r>
              <a:rPr sz="1300">
                <a:solidFill>
                  <a:srgbClr val="555555"/>
                </a:solidFill>
              </a:rPr>
              <a:t>col 1 = input   ·   col 2 = CRUMB VQ-VAE reconstruction</a:t>
            </a:r>
          </a:p>
        </p:txBody>
      </p:sp>
      <p:pic>
        <p:nvPicPr>
          <p:cNvPr id="3" name="Picture 2" descr="recon_dd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234440"/>
            <a:ext cx="55880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Reconstruction examples - CGD-generated</a:t>
            </a:r>
          </a:p>
          <a:p>
            <a:r>
              <a:rPr sz="1300">
                <a:solidFill>
                  <a:srgbClr val="555555"/>
                </a:solidFill>
              </a:rPr>
              <a:t>col 1 = input   ·   col 2 = CRUMB VQ-VAE reconstruction</a:t>
            </a:r>
          </a:p>
        </p:txBody>
      </p:sp>
      <p:pic>
        <p:nvPicPr>
          <p:cNvPr id="3" name="Picture 2" descr="recon_cg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234440"/>
            <a:ext cx="55880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Samples  (left cols FR-I  ·  right cols FR-II)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4300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Real CRUMB  (ground truth)</a:t>
            </a:r>
          </a:p>
        </p:txBody>
      </p:sp>
      <p:pic>
        <p:nvPicPr>
          <p:cNvPr id="4" name="Picture 3" descr="crumb_groundtruth_s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17320"/>
            <a:ext cx="4846320" cy="27679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92240" y="114300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EDM baseline (latest, 400 ep) - epoch 320</a:t>
            </a:r>
          </a:p>
        </p:txBody>
      </p:sp>
      <p:pic>
        <p:nvPicPr>
          <p:cNvPr id="6" name="Picture 5" descr="comparison_epoch_3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417320"/>
            <a:ext cx="4846320" cy="2423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20624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DDPM (latest, 400 ep) - epoch 390</a:t>
            </a:r>
          </a:p>
        </p:txBody>
      </p:sp>
      <p:pic>
        <p:nvPicPr>
          <p:cNvPr id="8" name="Picture 7" descr="comparison_epoch_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480559"/>
            <a:ext cx="4846320" cy="2423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92240" y="420624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CGD (latest, 400 ep) - epoch 390</a:t>
            </a:r>
          </a:p>
        </p:txBody>
      </p:sp>
      <p:pic>
        <p:nvPicPr>
          <p:cNvPr id="10" name="Picture 9" descr="comparison_epoch_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4480559"/>
            <a:ext cx="4846320" cy="2423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934</Words>
  <Application>Microsoft Macintosh PowerPoint</Application>
  <PresentationFormat>Widescreen</PresentationFormat>
  <Paragraphs>158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Bevan Slabbert</cp:lastModifiedBy>
  <cp:revision>3</cp:revision>
  <dcterms:created xsi:type="dcterms:W3CDTF">2013-01-27T09:14:16Z</dcterms:created>
  <dcterms:modified xsi:type="dcterms:W3CDTF">2026-09-30T14:39:55Z</dcterms:modified>
  <cp:category/>
</cp:coreProperties>
</file>