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2A44"/>
                </a:solidFill>
              </a:rPr>
              <a:t>EDM Baseline  vs  CRUMB DDPM  vs  Classifier-Guided Diffusion</a:t>
            </a:r>
          </a:p>
          <a:p>
            <a:r>
              <a:rPr sz="1500">
                <a:solidFill>
                  <a:srgbClr val="555555"/>
                </a:solidFill>
              </a:rPr>
              <a:t>Class-conditional FR-I / FR-II radio-galaxy generation  ·  CRUMB FITS, 150x150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Key differences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00400"/>
                <a:gridCol w="3291840"/>
                <a:gridCol w="3017520"/>
              </a:tblGrid>
              <a:tr h="525780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EDM baseline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diffusion (DDPM)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CGD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literature reference</a:t>
                      </a:r>
                    </a:p>
                    <a:p>
                      <a:r>
                        <a:t>(Vicanek Martinez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this project's</a:t>
                      </a:r>
                    </a:p>
                    <a:p>
                      <a:r>
                        <a:t>CRUMB-dataset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DDPM + external steer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U-Net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UNet2DModel, ~29.8M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UNet2DConditionModel, ~95.9M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same as DDPM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Conditioning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additive class embedding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cross-attention (dim 256)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Noise process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continuous sigma (Karras)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1000-step discrete, linear beta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Target /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clean image / sigma-weighted 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noise (epsilon) / plain 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Sampler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Heun ODE, 25 steps, EMA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ancestral DDPM, 50 steps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Guidance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(3.0)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CFG (7.5) + frozen-classifier</a:t>
                      </a:r>
                    </a:p>
                    <a:p>
                      <a:r>
                        <a:t>gradient at low noise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Shared: task, CRUMB FITS pipeline, symmetric-log-SNR normalisation, CFG-style class conditioning, FID/KID/PDF evaluation.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Distributional metrics (best over training)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55448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645920"/>
                <a:gridCol w="1828800"/>
                <a:gridCol w="2194560"/>
                <a:gridCol w="137160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KID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pixel-PDF W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Epochs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 baseline  (mean ± std, n=5: seeds 42-46)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87.3 ± 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0.048 ± 0.005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0.0036 ± 0.0009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diffusion (DDPM+CFG)  (mean ± std, n=4: seeds 42-45)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73.4 ± 1.4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0.021 ± 0.003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0.0078 ± 0.0021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  (n=1: seed 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66.8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400</a:t>
                      </a:r>
                    </a:p>
                    <a:p>
                      <a:r>
                        <a:t>(complete)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24612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EDM has all 5 seeds; DDPM has 4 (seed 46 pending); CGD has 1 (seeds 43-46 pending). Std is the sample std across seeds.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/>
              <a:t>CRUMB VQ-VAE reconstruction fidelity  (VQ-VAE trained only on real CRUMB)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425196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18872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Passed through the CRUMB VQ-VAE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Recon 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Real held-out CRUMB 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555555"/>
                </a:solidFill>
              </a:rPr>
              <a:t>DDPM beats EDM on FID/KID in every seed; EDM keeps the best pixel-PDF W. CGD's single seed has the best FID/KID but is not yet multi-seed. DDPM best on VQ-VAE reconstruction fidelity.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Metrics vs epoch</a:t>
            </a:r>
          </a:p>
        </p:txBody>
      </p:sp>
      <p:pic>
        <p:nvPicPr>
          <p:cNvPr id="3" name="Picture 2" descr="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20240"/>
            <a:ext cx="11521440" cy="3785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CRUMB VQ-VAE reconstruction</a:t>
            </a:r>
          </a:p>
          <a:p>
            <a:r>
              <a:rPr sz="1300">
                <a:solidFill>
                  <a:srgbClr val="555555"/>
                </a:solidFill>
              </a:rPr>
              <a:t>Generated images passed through a VQ-VAE trained only on real CRUMB - does their structure lie on the CRUMB manifold?</a:t>
            </a:r>
          </a:p>
        </p:txBody>
      </p:sp>
      <p:pic>
        <p:nvPicPr>
          <p:cNvPr id="3" name="Picture 2" descr="rec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873238" cy="3749039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486400"/>
          <a:ext cx="640080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645920"/>
                <a:gridCol w="1645920"/>
              </a:tblGrid>
              <a:tr h="237744"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MSE ↓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NCC ↑</a:t>
                      </a:r>
                    </a:p>
                  </a:txBody>
                  <a:tcPr>
                    <a:solidFill>
                      <a:srgbClr val="2E6F9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Real CRUMB (reference)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EDM-generated (latest, final)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0.00271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0.763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DDPM-generated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0.00174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1F2A44"/>
                          </a:solidFill>
                        </a:rPr>
                        <a:t>CGD-generated (latest, ep 290)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0.00300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F2A44"/>
                          </a:solidFill>
                        </a:rPr>
                        <a:t>0.725</a:t>
                      </a:r>
                    </a:p>
                  </a:txBody>
                  <a:tcPr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One example pair per model (col 1 input, col 2 reconstruction).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All models reconstruct at least as well as real held-out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DDPM has the highest NCC this round - most CRUMB-like morphology.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MSE flatters all models: generated fields are smoother than real CRUMB.</a:t>
            </a:r>
          </a:p>
          <a:p>
            <a:pPr>
              <a:spcAft>
                <a:spcPts val="800"/>
              </a:spcAft>
            </a:pPr>
            <a:r>
              <a:rPr sz="1200">
                <a:solidFill>
                  <a:srgbClr val="555555"/>
                </a:solidFill>
              </a:rPr>
              <a:t>- Per-model example galleries on the following slides.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Real CRUMB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ru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EDM-generated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ed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DDPM-generated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dd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Reconstruction examples - CGD-generated</a:t>
            </a:r>
          </a:p>
          <a:p>
            <a:r>
              <a:rPr sz="1300">
                <a:solidFill>
                  <a:srgbClr val="555555"/>
                </a:solidFill>
              </a:rPr>
              <a:t>col 1 = input   ·   col 2 = CRUMB VQ-VAE reconstruction</a:t>
            </a:r>
          </a:p>
        </p:txBody>
      </p:sp>
      <p:pic>
        <p:nvPicPr>
          <p:cNvPr id="3" name="Picture 2" descr="recon_cg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234440"/>
            <a:ext cx="55880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F2A44"/>
                </a:solidFill>
              </a:rPr>
              <a:t>Samples  (left cols FR-I  ·  right cols FR-II)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Real CRUMB  (ground truth)</a:t>
            </a:r>
          </a:p>
        </p:txBody>
      </p:sp>
      <p:pic>
        <p:nvPicPr>
          <p:cNvPr id="4" name="Picture 3" descr="crumb_groundtruth_s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4846320" cy="27679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0" y="114300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EDM baseline (latest, 400 ep) - epoch 320</a:t>
            </a:r>
          </a:p>
        </p:txBody>
      </p:sp>
      <p:pic>
        <p:nvPicPr>
          <p:cNvPr id="6" name="Picture 5" descr="comparison_epoch_3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417320"/>
            <a:ext cx="4846320" cy="2423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DDPM (latest, 400 ep) - epoch 390</a:t>
            </a:r>
          </a:p>
        </p:txBody>
      </p:sp>
      <p:pic>
        <p:nvPicPr>
          <p:cNvPr id="8" name="Picture 7" descr="comparison_epoch_3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480559"/>
            <a:ext cx="4846320" cy="2423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4206240"/>
            <a:ext cx="4846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F2A44"/>
                </a:solidFill>
              </a:rPr>
              <a:t>CGD (latest, 400 ep) - epoch 390</a:t>
            </a:r>
          </a:p>
        </p:txBody>
      </p:sp>
      <p:pic>
        <p:nvPicPr>
          <p:cNvPr id="10" name="Picture 9" descr="comparison_epoch_39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480559"/>
            <a:ext cx="48463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