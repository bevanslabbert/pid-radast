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3"/>
  </p:normalViewPr>
  <p:slideViewPr>
    <p:cSldViewPr snapToGrid="0" snapToObjects="1">
      <p:cViewPr varScale="1">
        <p:scale>
          <a:sx n="126" d="100"/>
          <a:sy n="126" d="100"/>
        </p:scale>
        <p:origin x="232" y="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The three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1474422"/>
              </p:ext>
            </p:extLst>
          </p:nvPr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DDPM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F2A44"/>
                          </a:solidFill>
                        </a:rPr>
                        <a:t>literature reference</a:t>
                      </a:r>
                      <a:r>
                        <a:rPr lang="en-US" sz="1400" dirty="0">
                          <a:solidFill>
                            <a:srgbClr val="1F2A44"/>
                          </a:solidFill>
                        </a:rPr>
                        <a:t> </a:t>
                      </a:r>
                      <a:r>
                        <a:rPr sz="1400" dirty="0"/>
                        <a:t>(</a:t>
                      </a:r>
                      <a:r>
                        <a:rPr sz="1400" dirty="0" err="1"/>
                        <a:t>Vicanek</a:t>
                      </a:r>
                      <a:r>
                        <a:rPr sz="1400" dirty="0"/>
                        <a:t>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this project's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F2A44"/>
                          </a:solidFill>
                        </a:rPr>
                        <a:t>DDPM + classifier guidance</a:t>
                      </a:r>
                      <a:r>
                        <a:rPr lang="en-US" sz="1400" dirty="0">
                          <a:solidFill>
                            <a:srgbClr val="1F2A44"/>
                          </a:solidFill>
                        </a:rPr>
                        <a:t> </a:t>
                      </a:r>
                      <a:r>
                        <a:rPr sz="1400" dirty="0"/>
                        <a:t>at sampling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Network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same checkpoints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Heun ODE, 25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DDPM, 50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DDPM, 50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Class steering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CFG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CFG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F2A44"/>
                          </a:solidFill>
                        </a:rPr>
                        <a:t>CFG + gradient of a frozen,</a:t>
                      </a:r>
                      <a:r>
                        <a:rPr lang="en-US" sz="1400" dirty="0">
                          <a:solidFill>
                            <a:srgbClr val="1F2A44"/>
                          </a:solidFill>
                        </a:rPr>
                        <a:t> </a:t>
                      </a:r>
                      <a:r>
                        <a:rPr sz="1400" dirty="0"/>
                        <a:t>noise-aware classifier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All results use CFG 3.0 unless noted. CGD needs no retraining - guidance only changes sampling.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Image quality during training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  (best over 400 epochs)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EDM baseline  (5 seeds)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87.3 ± 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0.048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0.0036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DDPM  (4 seeds)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73.4 ± 1.4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0.021 ± 0.003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0.0077 ± 0.0021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same training as DDPM - guidance is added at sampling (slide 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Picture 3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97480"/>
            <a:ext cx="10607040" cy="34851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DDPM wins FID/KID; EDM matches the pixel-intensity distribution best.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CFG scale: class fidelity vs image quality</a:t>
            </a:r>
          </a:p>
        </p:txBody>
      </p:sp>
      <p:pic>
        <p:nvPicPr>
          <p:cNvPr id="3" name="Picture 2" descr="guidanc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188720"/>
            <a:ext cx="10058400" cy="3855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- Higher CFG = more class-typical samples, but worse FID. CFG 3.0 is the best trade-off.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- DDPM beats EDM on FID at every matched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Classifier guidance needs a noise-aware classifier</a:t>
            </a:r>
          </a:p>
          <a:p>
            <a:r>
              <a:rPr sz="1300">
                <a:solidFill>
                  <a:srgbClr val="555555"/>
                </a:solidFill>
              </a:rPr>
              <a:t>The classifier is queried on noisy, half-formed images at every sampling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Guidance classifier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Works on noisy images?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Effect on samples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Original (wrong data domain)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no - always predicts FR-I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Clean-image classifier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no - collapses once noise is added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last 1-2 steps only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Noise-aware ResNet50 (used)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yes - 73 % at t=100, 63 % at t=200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steers the second half of sampling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- Earlier CGD results used the broken original classifier, so they were effectively plain DDPM.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Choosing the guidance strength</a:t>
            </a:r>
          </a:p>
        </p:txBody>
      </p:sp>
      <p:pic>
        <p:nvPicPr>
          <p:cNvPr id="3" name="Picture 2" descr="cgd_guidance_str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188720"/>
            <a:ext cx="10058400" cy="3855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- Accuracy plateaus at 3-10 with no FID cost; too strong (100) breaks the samples. Chosen: 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Swept on a second, independently trained set of DDPM checkpoints.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 at CFG 3.0</a:t>
            </a:r>
          </a:p>
          <a:p>
            <a:r>
              <a:rPr sz="1300">
                <a:solidFill>
                  <a:srgbClr val="555555"/>
                </a:solidFill>
              </a:rPr>
              <a:t>128 samples per class per seed, scored by a separate held-out classifier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Class accuracy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FR-I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FR-II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Real CRUMB images  (target)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78.1 %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84.6 %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73.0 %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80.7 ± 1.8 %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71.6 %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89.8 %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68.4 ± 3.7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0.056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DDPM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89.0 ± 4.2 %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81.5 %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96.4 %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50.6 ± 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0.033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2A44"/>
                          </a:solidFill>
                        </a:rPr>
                        <a:t>CGD  (DDPM + guidance)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92.8 ± 3.4 %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87.4 %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98.3 %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50.5 ± 5.3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0.031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- Guidance improves every seed (+3.8 pts, FR-I +5.9) at no FID cost.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- Raising CFG to 7.5 instead buys similar accuracy but costs +10.6 FID.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- Same result on a second training run: 84.3 -&gt; 91.4 %.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What guidance changes</a:t>
            </a:r>
          </a:p>
          <a:p>
            <a:r>
              <a:rPr sz="1300">
                <a:solidFill>
                  <a:srgbClr val="555555"/>
                </a:solidFill>
              </a:rPr>
              <a:t>Same model and starting noise - only the guidance differs (DDPM seed 44)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2402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2A44"/>
                </a:solidFill>
              </a:rPr>
              <a:t>DDPM
(no guidance)</a:t>
            </a:r>
          </a:p>
        </p:txBody>
      </p:sp>
      <p:pic>
        <p:nvPicPr>
          <p:cNvPr id="4" name="Picture 3" descr="guidance_samples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25880"/>
            <a:ext cx="8961120" cy="2380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548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2A44"/>
                </a:solidFill>
              </a:rPr>
              <a:t>CGD
(guided)</a:t>
            </a:r>
          </a:p>
        </p:txBody>
      </p:sp>
      <p:pic>
        <p:nvPicPr>
          <p:cNvPr id="6" name="Picture 5" descr="guidance_samples_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3840480"/>
            <a:ext cx="8961120" cy="23802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Guidance refines details (e.g. sharper FR-II cores) rather than redrawing the galaxy.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vs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515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(left cols FR-I · right cols FR-II)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4572000" cy="26113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0515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 (left cols FR-I · right cols FR-II)</a:t>
            </a:r>
          </a:p>
        </p:txBody>
      </p:sp>
      <p:pic>
        <p:nvPicPr>
          <p:cNvPr id="6" name="Picture 5" descr="comparison_epoch_3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25880"/>
            <a:ext cx="4572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 (top FR-I · bottom FR-II)</a:t>
            </a:r>
          </a:p>
        </p:txBody>
      </p:sp>
      <p:pic>
        <p:nvPicPr>
          <p:cNvPr id="8" name="Picture 7" descr="guidance_samples_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617720"/>
            <a:ext cx="5486400" cy="14573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343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 (top FR-I · bottom FR-II)</a:t>
            </a:r>
          </a:p>
        </p:txBody>
      </p:sp>
      <p:pic>
        <p:nvPicPr>
          <p:cNvPr id="10" name="Picture 9" descr="guidance_samples_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617720"/>
            <a:ext cx="5486400" cy="14573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Do samples look like CRUMB?</a:t>
            </a:r>
          </a:p>
          <a:p>
            <a:r>
              <a:rPr sz="1300">
                <a:solidFill>
                  <a:srgbClr val="555555"/>
                </a:solidFill>
              </a:rPr>
              <a:t>Passed through a VQ-VAE trained only on real CRUMB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10972800" cy="263347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880360" y="4297680"/>
          <a:ext cx="6400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Real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EDM-generated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Both reconstruct at least as well as real CRUMB (generated fields are smoother). Seed 42, unguided.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</a:rPr>
              <a:t>- DDPM beats the EDM baseline on FID and KID; EDM matches pixel intensities best.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</a:rPr>
              <a:t>- CFG 3.0 is the best operating point - higher CFG trades image quality for class fidelity.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</a:rPr>
              <a:t>- Classifier guidance only works with a noise-aware classifier.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</a:rPr>
              <a:t>- With one, CGD raises class fidelity (FR-I closest to real) at no cost in image quality.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</a:rPr>
              <a:t>- Every model still over-produces clear-cut FR-II and finds FR-I hardest.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709</Words>
  <Application>Microsoft Macintosh PowerPoint</Application>
  <PresentationFormat>Widescreen</PresentationFormat>
  <Paragraphs>135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Bevan Slabbert</cp:lastModifiedBy>
  <cp:revision>2</cp:revision>
  <dcterms:created xsi:type="dcterms:W3CDTF">2013-01-27T09:14:16Z</dcterms:created>
  <dcterms:modified xsi:type="dcterms:W3CDTF">2026-10-01T07:16:36Z</dcterms:modified>
  <cp:category/>
</cp:coreProperties>
</file>