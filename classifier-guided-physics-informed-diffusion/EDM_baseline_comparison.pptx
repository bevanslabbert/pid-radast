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 snapToObjects="1">
      <p:cViewPr varScale="1">
        <p:scale>
          <a:sx n="115" d="100"/>
          <a:sy n="115" d="100"/>
        </p:scale>
        <p:origin x="10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37744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F3A5F"/>
                </a:solidFill>
              </a:rPr>
              <a:t>Classifier-Guided Diffusion vs EDM Baseline</a:t>
            </a:r>
          </a:p>
          <a:p>
            <a:r>
              <a:rPr sz="1800">
                <a:solidFill>
                  <a:srgbClr val="555555"/>
                </a:solidFill>
              </a:rPr>
              <a:t>Class-conditional FR-I / FR-II radio-galaxy generation  ·  CRUMB FITS, 150×150  ·  latest-epoch samples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Where CGD and EDM agree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</a:rPr>
              <a:t>Same task &amp; data: binary FR-I vs FR-II, CRUMB FITS pipeline, symmetric-log-SNR normalisation, 150×150 grayscale.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</a:rPr>
              <a:t>Same generative family: a U-Net denoiser trained by score/diffusion matching, sampled iteratively from noise.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</a:rPr>
              <a:t>Same class-conditioning mechanism at inference: classifier-free guidance (CFG) toward the requested FR class.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</a:rPr>
              <a:t>Same evaluation: FID / KID / pixel-PDF Wasserstein on identical held-out data, logged every 10 epochs.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</a:rPr>
              <a:t>Comparable convergence behaviour: both improve smoothly and are still edging down near the end of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Where CGD differs from EDM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Classifier-guided diffusion (CGD)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UNet2DModel, ~29.8M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UNet2DConditionModel, ~95.9M params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Additive class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Cross-attention on class embedding (dim 256)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Noise /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Continuous </a:t>
                      </a:r>
                      <a:r>
                        <a:rPr sz="1300" dirty="0" err="1"/>
                        <a:t>σ</a:t>
                      </a:r>
                      <a:r>
                        <a:rPr sz="1300" dirty="0"/>
                        <a:t>, Karras preconditioned denoiser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1000 discrete steps, </a:t>
                      </a:r>
                      <a:r>
                        <a:rPr sz="1300" dirty="0" err="1"/>
                        <a:t>ε</a:t>
                      </a:r>
                      <a:r>
                        <a:rPr sz="1300" dirty="0"/>
                        <a:t>-prediction, linear 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σ-weighted L2 on clean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Plain MSE on noise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Sampler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Deterministic Heun ODE, 25 steps, EMA 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Ancestral DDPM, 50 steps, raw weights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Guidance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CFG only (scale 3.0)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/>
                        <a:t>CFG (7.5) + frozen-classifier gradient ∇ₓ log p(</a:t>
                      </a:r>
                      <a:r>
                        <a:rPr sz="1300" dirty="0" err="1"/>
                        <a:t>y|x</a:t>
                      </a:r>
                      <a:r>
                        <a:rPr sz="1300" dirty="0"/>
                        <a:t>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577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CGD's extra ingredient is the classifier gradient steering each sampling trajectory — the training objective is unchanged.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FID ↓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KID ↓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pixel-PDF W ↓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Final-epoch FID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EDM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106.9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106.9 (ep190)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diffusion (DDPM+CFG)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110.4 (ep190)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/>
                        <a:t>CGD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0.0064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90.7 (ep250)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0233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0000"/>
                </a:solidFill>
              </a:rPr>
              <a:t>CGD gives the lowest FID (-27% vs EDM), lowest KID, and a ~2.5× closer pixel-intensity distribution.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0000"/>
                </a:solidFill>
              </a:rPr>
              <a:t>Plain DDPM already matches EDM on the distributional metrics; the classifier gradient is what opens the gap.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0000"/>
                </a:solidFill>
              </a:rPr>
              <a:t>Small per-eval sample sets — treat absolute values as indicative; the ordering is stable across epochs.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Latest-epoch generated samples  (left col FR-I · right col FR-II)</a:t>
            </a:r>
          </a:p>
        </p:txBody>
      </p:sp>
      <p:pic>
        <p:nvPicPr>
          <p:cNvPr id="3" name="Picture 2" descr="comparison_epoch_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94560"/>
            <a:ext cx="3794760" cy="18973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97680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3A5F"/>
                </a:solidFill>
              </a:rPr>
              <a:t>EDM baseline — epoch 190</a:t>
            </a:r>
          </a:p>
        </p:txBody>
      </p:sp>
      <p:pic>
        <p:nvPicPr>
          <p:cNvPr id="5" name="Picture 4" descr="comparison_epoch_1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59" y="2194560"/>
            <a:ext cx="3794760" cy="1897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51959" y="4297680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3A5F"/>
                </a:solidFill>
              </a:rPr>
              <a:t>DDPM — epoch 190</a:t>
            </a:r>
          </a:p>
        </p:txBody>
      </p:sp>
      <p:pic>
        <p:nvPicPr>
          <p:cNvPr id="7" name="Picture 6" descr="comparison_epoch_2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194560"/>
            <a:ext cx="3794760" cy="1897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297680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3A5F"/>
                </a:solidFill>
              </a:rPr>
              <a:t>CGD — epoch 250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371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Bevan Slabbert</cp:lastModifiedBy>
  <cp:revision>2</cp:revision>
  <dcterms:created xsi:type="dcterms:W3CDTF">2013-01-27T09:14:16Z</dcterms:created>
  <dcterms:modified xsi:type="dcterms:W3CDTF">2026-08-31T16:32:11Z</dcterms:modified>
  <cp:category/>
</cp:coreProperties>
</file>