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A44"/>
                </a:solidFill>
              </a:rPr>
              <a:t>EDM Baseline  vs  CRUMB DDPM  vs  Classifier-Guided Diffusion</a:t>
            </a:r>
          </a:p>
          <a:p>
            <a:r>
              <a:rPr sz="1500">
                <a:solidFill>
                  <a:srgbClr val="555555"/>
                </a:solidFill>
              </a:rPr>
              <a:t>Class-conditional FR-I / FR-II radio-galaxy generation  ·  CRUMB FITS, 150x150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Key differences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3291840"/>
                <a:gridCol w="3017520"/>
              </a:tblGrid>
              <a:tr h="52578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diffusion (DDPM)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literature reference</a:t>
                      </a:r>
                    </a:p>
                    <a:p>
                      <a:r>
                        <a:t>(Vicanek Martinez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this project's</a:t>
                      </a:r>
                    </a:p>
                    <a:p>
                      <a:r>
                        <a:t>CRUMB-dataset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DDPM + external steer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U-Net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UNet2DModel, ~29.8M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UNet2DConditionModel, ~95.9M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same as DDPM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additive class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Noise process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continuous sigma (Karras)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Target /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clean image / sigma-weighted 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Sampler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Heun ODE, 25 steps, EMA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Guidance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(3.0)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 + frozen-classifier</a:t>
                      </a:r>
                    </a:p>
                    <a:p>
                      <a:r>
                        <a:t>gradient at low noise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Shared: task, CRUMB FITS pipeline, symmetric-log-SNR normalisation, CFG-style class conditioning, FID/KID/PDF evaluation.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Distributional metrics (best over training)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1828800"/>
                <a:gridCol w="219456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pixel-PDF W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Epochs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 (mean ± std, n=2: seeds 42, 43)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82.8 ± 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0.045 ±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0.0031 ± 0.0004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diffusion (DDPM+CFG)  (n=1: seed 42)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73.5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0.022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0.0105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  (n=1: seed 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66.8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46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EDM has 2 completed seeds so far; DDPM and CGD each have 1. 4 more seeds (43-46) per model submitted, pending completion.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CRUMB VQ-VAE reconstruction fidelity  (VQ-VAE trained only on real CRUMB)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5196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18872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Passed through the CRUMB VQ-VAE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Real held-out CRUMB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CGD still best on distributional metrics (FID/KID/PDF) on its single completed seed; DDPM closed most of the gap. DDPM best on VQ-VAE reconstruction fidelity this round. Ranking may shift once all three models have 5 seeds.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Metrics vs epoch</a:t>
            </a:r>
          </a:p>
        </p:txBody>
      </p:sp>
      <p:pic>
        <p:nvPicPr>
          <p:cNvPr id="3" name="Picture 2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11521440" cy="35450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Per-run generative-metric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baseline, seed 42 (400 ep, complete)</a:t>
            </a:r>
          </a:p>
        </p:txBody>
      </p:sp>
      <p:pic>
        <p:nvPicPr>
          <p:cNvPr id="4" name="Picture 3" descr="generativ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3657600" cy="1524000"/>
          </a:xfrm>
          <a:prstGeom prst="rect">
            <a:avLst/>
          </a:prstGeom>
        </p:spPr>
      </p:pic>
      <p:pic>
        <p:nvPicPr>
          <p:cNvPr id="5" name="Picture 4" descr="pixel_pdf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60520"/>
            <a:ext cx="36576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43400" y="1280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diffusion, seed 42 (400 ep, complete)</a:t>
            </a:r>
          </a:p>
        </p:txBody>
      </p:sp>
      <p:pic>
        <p:nvPicPr>
          <p:cNvPr id="7" name="Picture 6" descr="generative_metr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600200"/>
            <a:ext cx="3657600" cy="1524000"/>
          </a:xfrm>
          <a:prstGeom prst="rect">
            <a:avLst/>
          </a:prstGeom>
        </p:spPr>
      </p:pic>
      <p:pic>
        <p:nvPicPr>
          <p:cNvPr id="8" name="Picture 7" descr="pixel_pdf_his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4160520"/>
            <a:ext cx="3657600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21040" y="1280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CGD, seed 42 (400 ep, complete)</a:t>
            </a:r>
          </a:p>
        </p:txBody>
      </p:sp>
      <p:pic>
        <p:nvPicPr>
          <p:cNvPr id="10" name="Picture 9" descr="generative_metr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1600200"/>
            <a:ext cx="3657600" cy="1524000"/>
          </a:xfrm>
          <a:prstGeom prst="rect">
            <a:avLst/>
          </a:prstGeom>
        </p:spPr>
      </p:pic>
      <p:pic>
        <p:nvPicPr>
          <p:cNvPr id="11" name="Picture 10" descr="pixel_pdf_histor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4160520"/>
            <a:ext cx="3657600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Top row: FID / KID vs epoch.   Bottom row: pixel-PDF Wasserstein history. All three models now have at least one complete 400-epoch run; CGD's earlier resume-checkpoint crash was fixed and it re-ran to completion. Curves shown are each model's seed-42 run; 4 more seeds per model are in progress for a proper multi-seed comparison.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CRUMB VQ-VAE reconstruction</a:t>
            </a:r>
          </a:p>
          <a:p>
            <a:r>
              <a:rPr sz="1300">
                <a:solidFill>
                  <a:srgbClr val="555555"/>
                </a:solidFill>
              </a:rPr>
              <a:t>Generated images passed through a VQ-VAE trained only on real CRUMB - does their structure lie on the CRUMB manifold?</a:t>
            </a:r>
          </a:p>
        </p:txBody>
      </p:sp>
      <p:pic>
        <p:nvPicPr>
          <p:cNvPr id="3" name="Picture 2" descr="rec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873238" cy="3749039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486400"/>
          <a:ext cx="64008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645920"/>
                <a:gridCol w="1645920"/>
              </a:tblGrid>
              <a:tr h="237744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Real CRUMB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One example pair per model (col 1 input, col 2 reconstruction).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All models reconstruct at least as well as real held-out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DDPM has the highest NCC this round - most CRUMB-like morphology.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MSE flatters all models: generated fields are smoother than real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Per-model example galleries on the following slides.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Real CRUMB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r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EDM-generated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e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DDPM-generated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dd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CGD-generated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g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Samples  (left cols FR-I  ·  right cols FR-II)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Real CRUMB  (ground truth)</a:t>
            </a:r>
          </a:p>
        </p:txBody>
      </p:sp>
      <p:pic>
        <p:nvPicPr>
          <p:cNvPr id="4" name="Picture 3" descr="crumb_groundtruth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846320" cy="27679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 (latest, 400 ep) - epoch 320</a:t>
            </a:r>
          </a:p>
        </p:txBody>
      </p:sp>
      <p:pic>
        <p:nvPicPr>
          <p:cNvPr id="6" name="Picture 5" descr="comparison_epoch_3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846320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(latest, 400 ep) - epoch 390</a:t>
            </a:r>
          </a:p>
        </p:txBody>
      </p:sp>
      <p:pic>
        <p:nvPicPr>
          <p:cNvPr id="8" name="Picture 7" descr="comparison_epoch_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80559"/>
            <a:ext cx="4846320" cy="2423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 (latest, 400 ep) - epoch 390</a:t>
            </a:r>
          </a:p>
        </p:txBody>
      </p:sp>
      <p:pic>
        <p:nvPicPr>
          <p:cNvPr id="10" name="Picture 9" descr="comparison_epoch_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480559"/>
            <a:ext cx="484632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