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0515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828800"/>
                <a:gridCol w="2377440"/>
                <a:gridCol w="1371600"/>
              </a:tblGrid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(latest)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(earlier, seeds 42 / 44)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106.9 / 98.7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0.081 / 0.063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0.0165 / 0.019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99.7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200</a:t>
                      </a:r>
                    </a:p>
                    <a:p>
                      <a:r>
                        <a:t>(300-ep run in</a:t>
                      </a:r>
                    </a:p>
                    <a:p>
                      <a:r>
                        <a:t>progress, ep 123)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(latest, seed 42)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67.2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0.0069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(earlier, seed 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1148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CGD best on distributional metrics (FID/KID/PDF); DDPM best on VQ-VAE reconstruction fidelity this 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5450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Per-run generative-metric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(300 ep, complete)</a:t>
            </a:r>
          </a:p>
        </p:txBody>
      </p:sp>
      <p:pic>
        <p:nvPicPr>
          <p:cNvPr id="4" name="Picture 3" descr="generativ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3657600" cy="1524000"/>
          </a:xfrm>
          <a:prstGeom prst="rect">
            <a:avLst/>
          </a:prstGeom>
        </p:spPr>
      </p:pic>
      <p:pic>
        <p:nvPicPr>
          <p:cNvPr id="5" name="Picture 4" descr="pixel_pdf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60520"/>
            <a:ext cx="36576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diffusion (200 ep)</a:t>
            </a:r>
          </a:p>
        </p:txBody>
      </p:sp>
      <p:pic>
        <p:nvPicPr>
          <p:cNvPr id="7" name="Picture 6" descr="generative_metr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600200"/>
            <a:ext cx="3657600" cy="1524000"/>
          </a:xfrm>
          <a:prstGeom prst="rect">
            <a:avLst/>
          </a:prstGeom>
        </p:spPr>
      </p:pic>
      <p:pic>
        <p:nvPicPr>
          <p:cNvPr id="8" name="Picture 7" descr="pixel_pdf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4160520"/>
            <a:ext cx="36576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(300 ep, complete)</a:t>
            </a:r>
          </a:p>
        </p:txBody>
      </p:sp>
      <p:pic>
        <p:nvPicPr>
          <p:cNvPr id="10" name="Picture 9" descr="generative_metr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1600200"/>
            <a:ext cx="3657600" cy="1524000"/>
          </a:xfrm>
          <a:prstGeom prst="rect">
            <a:avLst/>
          </a:prstGeom>
        </p:spPr>
      </p:pic>
      <p:pic>
        <p:nvPicPr>
          <p:cNvPr id="11" name="Picture 10" descr="pixel_pdf_histo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160520"/>
            <a:ext cx="365760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Top row: FID / KID vs epoch.   Bottom row: pixel-PDF Wasserstein history. DDPM's fresh 300-epoch run is still in progress (epoch 123 as of this build).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DDPM has the highest NCC this round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300 ep) - epoch 290</a:t>
            </a:r>
          </a:p>
        </p:txBody>
      </p:sp>
      <p:pic>
        <p:nvPicPr>
          <p:cNvPr id="6" name="Picture 5" descr="comparison_epoch_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- epoch 190</a:t>
            </a:r>
          </a:p>
        </p:txBody>
      </p:sp>
      <p:pic>
        <p:nvPicPr>
          <p:cNvPr id="8" name="Picture 7" descr="comparison_epoch_1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(latest, 300 ep) - epoch 290</a:t>
            </a:r>
          </a:p>
        </p:txBody>
      </p:sp>
      <p:pic>
        <p:nvPicPr>
          <p:cNvPr id="10" name="Picture 9" descr="comparison_epoch_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