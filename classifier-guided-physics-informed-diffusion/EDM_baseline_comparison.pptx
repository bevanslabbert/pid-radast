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EDM Baseline  vs  CRUMB DDPM  vs  Classifier-Guided Diffusion</a:t>
            </a:r>
          </a:p>
          <a:p>
            <a:r>
              <a:rPr sz="1500">
                <a:solidFill>
                  <a:srgbClr val="555555"/>
                </a:solidFill>
              </a:rPr>
              <a:t>Class-conditional FR-I / FR-II radio-galaxy generation  ·  CRUMB FITS, 150x150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Key differences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200400"/>
                <a:gridCol w="3291840"/>
                <a:gridCol w="3017520"/>
              </a:tblGrid>
              <a:tr h="52578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EDM baseline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diffusion (DDPM)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CGD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literature reference</a:t>
                      </a:r>
                    </a:p>
                    <a:p>
                      <a:r>
                        <a:t>(Vicanek Martinez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this project's</a:t>
                      </a:r>
                    </a:p>
                    <a:p>
                      <a:r>
                        <a:t>CRUMB-dataset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DDPM + external steer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U-Net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UNet2DModel, ~29.8M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UNet2DConditionModel, ~95.9M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same as DDPM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Conditioning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additive class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cross-attention (dim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cross-attention (dim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Noise process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continuous sigma (Karras)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1000-step discrete, linear beta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1000-step discrete, linear beta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Target /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clean image / sigma-weighted 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noise (epsilon) / plain 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noise (epsilon) / plain 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Sampler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Heun ODE, 25 steps, EMA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ancestral DDPM, 50 steps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ancestral DDPM, 50 steps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CFG (3.0)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CFG (7.5)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CFG + noise-aware classifier</a:t>
                      </a:r>
                    </a:p>
                    <a:p>
                      <a:r>
                        <a:t>gradient (strength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Shared: task, CRUMB FITS pipeline, symmetric-log-SNR normalisation, CFG-style class conditioning, FID/KID/PDF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/>
              <a:t>Distributional metrics (best over training)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45920"/>
                <a:gridCol w="1828800"/>
                <a:gridCol w="219456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FID ↓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KID ↓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pixel-PDF W ↓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EDM baseline  (mean ± std, n=5: seeds 42-46)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87.3 ±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0.048 ± 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0.0036 ± 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400</a:t>
                      </a:r>
                    </a:p>
                    <a:p>
                      <a:r>
                        <a:t>(complete)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diffusion (DDPM+CFG)  (mean ± std, n=4: seeds 42-45)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73.4 ± 1.4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0.021 ± 0.003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0.0077 ± 0.0021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400</a:t>
                      </a:r>
                    </a:p>
                    <a:p>
                      <a:r>
                        <a:t>(complete)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CGD*  (mean ± std, n=5: seeds 42-46)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74.4 ± 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0.024 ± 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0.0078 ± 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400</a:t>
                      </a:r>
                    </a:p>
                    <a:p>
                      <a:r>
                        <a:t>(complete)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46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EDM and CGD have all 5 seeds; DDPM has 4 (seed 46 hit its time limit at epoch 260). Std is the sample std across seeds.  *CGD sampled with its original, broken guidance classifier - effectively CFG only (see slide 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/>
              <a:t>CRUMB VQ-VAE reconstruction fidelity  (VQ-VAE trained only on real CRUMB)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5196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18872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Passed through the CRUMB VQ-VAE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Recon MSE ↓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Recon NCC ↑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Real held-out CRUMB 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0.00377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EDM-generated (latest, final)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0.00271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0.763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DDPM-generated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0.00174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F2A44"/>
                          </a:solidFill>
                        </a:rPr>
                        <a:t>CGD-generated (latest, ep 290)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0.00300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</a:rPr>
                        <a:t>0.725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DDPM and (unguided) CGD beat EDM on FID/KID; EDM keeps the best pixel-PDF W. DDPM best on VQ-VAE reconstruction fidelity. Working-guidance CGD results: slides 6-8.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Classifier accuracy on generated samples</a:t>
            </a:r>
          </a:p>
          <a:p>
            <a:r>
              <a:rPr sz="1300">
                <a:solidFill>
                  <a:srgbClr val="555555"/>
                </a:solidFill>
              </a:rPr>
              <a:t>Does the model generate the class it was asked for?  128 samples per class per seed, scored by a held-out classifier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22960"/>
                <a:gridCol w="1920240"/>
                <a:gridCol w="1737360"/>
                <a:gridCol w="1737360"/>
                <a:gridCol w="173736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Seeds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Class accuracy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FR-I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FR-II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confidence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</a:rPr>
                        <a:t>Real CRUMB test images 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78.1 %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84.6 %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73.0 %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</a:rPr>
                        <a:t>EDM baseline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80.7 ± 1.8 %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71.6 ± 6.5 %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89.8 ± 3.5 %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0.743 ± 0.014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</a:rPr>
                        <a:t>diffusion (DDPM+CFG)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96.5 ± 1.5 %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93.0 ± 2.9 %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100.0 ± 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0.910 ± 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44"/>
                          </a:solidFill>
                        </a:rPr>
                        <a:t>CGD*  (broken guidance classifier)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97.1 ± 2.4 %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95.3 ± 2.9 %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98.9 ± 2.0 %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44"/>
                          </a:solidFill>
                        </a:rPr>
                        <a:t>0.891 ± 0.049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- A model matching real data would score like the reference row, not 100%. DDPM/CGD overshoot on both classes: their samples are more clear-cut than real galaxies.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- EDM is close to real overall, but every model reverses the real per-class pattern (real FR-I 85% &gt; FR-II 73%) at every guidance scale - EDM most strongly (FR-I 72%, FR-II 90%).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- *CGD here is effectively CFG only: its guidance classifier was broken (slide 6). With a working one it improves (slides 7-8).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- Confound: EDM samples at CFG 3.0, DDPM/CGD at 7.5 - stronger guidance exaggerates class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Scored by eval_fits_bs8_seed42 (SimpleCNN, crumb_fits domain, never used to guide CGD; real-test reference from its confusion matrix, n=178). Mean ± sample std across seeds. DDPM seed 46 incomplete.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Matched guidance: accuracy and FID vs CFG scale</a:t>
            </a:r>
          </a:p>
          <a:p>
            <a:r>
              <a:rPr sz="1300">
                <a:solidFill>
                  <a:srgbClr val="555555"/>
                </a:solidFill>
              </a:rPr>
              <a:t>Same checkpoints re-sampled at CFG 1.0 / 3.0 / 7.5 - separates architecture from guidance strength</a:t>
            </a:r>
          </a:p>
        </p:txBody>
      </p:sp>
      <p:pic>
        <p:nvPicPr>
          <p:cNvPr id="3" name="Picture 2" descr="guidanc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3855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- At every matched scale DDPM beats EDM on FID (50.9 vs 65.5, 50.4 vs 68.4, 61.0 vs 94.1) and on class accuracy up to 3.0 - the lead is architectural, not guidance.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- CFG 7.5 costs every model FID; 3.0 is the better operating point (best FID, accuracy nearest real). CGD line: broken guidance classifier (effectively CFG only).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FID from 256 generated images per seed vs the 357-image crumb_fits val split - not comparable in absolute terms to the training-time FID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CGD's guidance classifier was broken</a:t>
            </a:r>
          </a:p>
          <a:p>
            <a:r>
              <a:rPr sz="1300">
                <a:solidFill>
                  <a:srgbClr val="555555"/>
                </a:solidFill>
              </a:rPr>
              <a:t>Guidance queries the classifier on noisy, half-formed images at every sampling step - it must work under noise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011680"/>
                <a:gridCol w="1005840"/>
                <a:gridCol w="914400"/>
                <a:gridCol w="1005840"/>
                <a:gridCol w="1005840"/>
                <a:gridCol w="265176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Guidance classifier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Trained on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Noise-aware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Clean acc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 @ t=100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 @ t=200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Behaviour during sampling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scratch  (original CGD)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linear crumb  (wrong domain)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42 %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42 %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42 %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predicts FR-I for every image: gradient 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SimpleCNN, crumb_fits  (quick fix)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crumb_fits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77 %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58 %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58 %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predicts FR-II for all t &gt; 50: last ~2 steps only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ResNet50 + timestep  (robust)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crumb_fits + DDPM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63 %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tracks the requested class, 0.5 -&gt; 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>
                <a:solidFill>
                  <a:srgbClr val="555555"/>
                </a:solidFill>
              </a:rPr>
              <a:t>- All earlier CGD results used 'scratch': collapsed to a constant prediction on crumb_fits images, so its gradient was 0.01-0.1% of the update - CGD was effectively DDPM + CFG.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55555"/>
                </a:solidFill>
              </a:rPr>
              <a:t>- A correct-domain classifier trained on clean images still collapses once noise is added (t &gt;= 50 of 1000), so it can only steer the final steps.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55555"/>
                </a:solidFill>
              </a:rPr>
              <a:t>- Fix: noise-aware classifier (Dhariwal &amp; Nichol 2021) - ResNet50 trained on crumb_fits images noised with the diffusion schedule, given t as input. Clean test acc 83.2 %.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55555"/>
                </a:solidFill>
              </a:rPr>
              <a:t>- CGD checkpoints are unchanged - guidance acts only at sampling time, so no diffusion retraining was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Accuracy on real crumb_fits validation images noised to timestep t (diagnose_cgd_guidance.py). Chance ~ 56 % (majority class).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CGD with a working guidance classifier</a:t>
            </a:r>
          </a:p>
          <a:p>
            <a:r>
              <a:rPr sz="1300">
                <a:solidFill>
                  <a:srgbClr val="555555"/>
                </a:solidFill>
              </a:rPr>
              <a:t>Robust classifier guidance at CFG 3.0 - classifier-guidance strength sweep</a:t>
            </a:r>
          </a:p>
        </p:txBody>
      </p:sp>
      <p:pic>
        <p:nvPicPr>
          <p:cNvPr id="3" name="Picture 2" descr="cgd_guidance_str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188720"/>
            <a:ext cx="10058400" cy="3855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- Strength 3: class accuracy 84.3 -&gt; 91.4 %, FR-I 74.1 -&gt; 84.1 % (real 84.6 %), FID 58.0 -&gt; 56.9, KID 0.039 -&gt; 0.037 - no quality cost.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- Plateau at 3-10; FID degrades from 30; at 100 guidance overwhelms the model (FID 84.9) and accuracy falls back to unguided.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Guide (ResNet50, noise-aware) and scorer (SimpleCNN) are independent architectures, so the gain is not the guide fooling a copy of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All models at CFG 3.0</a:t>
            </a:r>
          </a:p>
          <a:p>
            <a:r>
              <a:rPr sz="1300">
                <a:solidFill>
                  <a:srgbClr val="555555"/>
                </a:solidFill>
              </a:rPr>
              <a:t>Same scoring classifier, same real reference, 128 samples per class per seed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822960"/>
                <a:gridCol w="1463040"/>
                <a:gridCol w="1371600"/>
                <a:gridCol w="1280160"/>
                <a:gridCol w="1280160"/>
                <a:gridCol w="10972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Seeds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Class acc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FR-I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FR-II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FID ↓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KID ↓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Real CRUMB test images 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78.1 %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84.6 %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EDM baseline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80.7 ± 1.8 %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71.6 %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89.8 %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68.4 ± 3.7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DDPM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87.5 ± 2.9 %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79.5 %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95.5 %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50.4 ± 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DDPM + robust guidance (strength 10)  - prelim.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1 of 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96.9 %  (89.8)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93.8 %  (85.9)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100 %  (93.8)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55.6  (55.9)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0.031  (0.036)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CGD, unguided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84.3 ± 6.0 %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74.1 %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94.5 %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58.0 ± 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CGD + robust guidance (strength 3)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91.4 ± 3.3 %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84.1 %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98.8 %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56.9 ± 6.3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DDPM at CFG 7.5  (raising the CFG scale instead)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96.5 ± 1.5 %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93.0 %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61.0 ± 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200">
                <a:solidFill>
                  <a:srgbClr val="555555"/>
                </a:solidFill>
              </a:rPr>
              <a:t>- Classifier guidance raises class fidelity without the FID cost of a higher CFG scale: CGD +7 pts at -1 FID, vs DDPM CFG 3 -&gt; 7.5 +9 pts at +10.6 FID.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55555"/>
                </a:solidFill>
              </a:rPr>
              <a:t>- CGD's remaining FID gap to DDPM is inherited from its weaker checkpoints, not caused by guidance. DDPM + guidance (seed 42) keeps DDPM's FID - remaining seeds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</a:rPr>
              <a:t>Prelim. row: one seed; bracketed values are the same seed unguided. Mean ± sample std across seeds. FID from 256 samples/seed vs 357 real val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Metrics vs epoch</a:t>
            </a:r>
          </a:p>
        </p:txBody>
      </p:sp>
      <p:pic>
        <p:nvPicPr>
          <p:cNvPr id="3" name="Picture 2" descr="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11521440" cy="3785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CRUMB VQ-VAE reconstruction</a:t>
            </a:r>
          </a:p>
          <a:p>
            <a:r>
              <a:rPr sz="1300">
                <a:solidFill>
                  <a:srgbClr val="555555"/>
                </a:solidFill>
              </a:rPr>
              <a:t>Generated images passed through a VQ-VAE trained only on real CRUMB - does their structure lie on the CRUMB manifold?</a:t>
            </a:r>
          </a:p>
        </p:txBody>
      </p:sp>
      <p:pic>
        <p:nvPicPr>
          <p:cNvPr id="3" name="Picture 2" descr="rec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873238" cy="374903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5486400"/>
          <a:ext cx="6400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  <a:gridCol w="1645920"/>
              </a:tblGrid>
              <a:tr h="237744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MSE ↓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NCC ↑</a:t>
                      </a:r>
                    </a:p>
                  </a:txBody>
                  <a:tcPr>
                    <a:solidFill>
                      <a:srgbClr val="2E6F9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Real CRUMB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0.00377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EDM-generated (latest, final)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0.00271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0.763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DDPM-generated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0.00174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</a:rPr>
                        <a:t>CGD-generated (latest, ep 290)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0.00300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</a:rPr>
                        <a:t>0.725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200">
                <a:solidFill>
                  <a:srgbClr val="555555"/>
                </a:solidFill>
              </a:rPr>
              <a:t>- One example pair per model (col 1 input, col 2 reconstruction).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55555"/>
                </a:solidFill>
              </a:rPr>
              <a:t>- All models reconstruct at least as well as real held-out CRUMB.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55555"/>
                </a:solidFill>
              </a:rPr>
              <a:t>- DDPM has the highest NCC this round - most CRUMB-like morphology.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55555"/>
                </a:solidFill>
              </a:rPr>
              <a:t>- MSE flatters all models: generated fields are smoother than real CRUMB.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55555"/>
                </a:solidFill>
              </a:rPr>
              <a:t>- Per-model example galleries on the following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Reconstruction examples - Real CRUMB</a:t>
            </a:r>
          </a:p>
          <a:p>
            <a:r>
              <a:rPr sz="1300">
                <a:solidFill>
                  <a:srgbClr val="555555"/>
                </a:solidFill>
              </a:rPr>
              <a:t>col 1 = input   ·   col 2 = CRUMB VQ-VAE reconstruction</a:t>
            </a:r>
          </a:p>
        </p:txBody>
      </p:sp>
      <p:pic>
        <p:nvPicPr>
          <p:cNvPr id="3" name="Picture 2" descr="recon_cr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34440"/>
            <a:ext cx="5588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Reconstruction examples - EDM-generated</a:t>
            </a:r>
          </a:p>
          <a:p>
            <a:r>
              <a:rPr sz="1300">
                <a:solidFill>
                  <a:srgbClr val="555555"/>
                </a:solidFill>
              </a:rPr>
              <a:t>col 1 = input   ·   col 2 = CRUMB VQ-VAE reconstruction</a:t>
            </a:r>
          </a:p>
        </p:txBody>
      </p:sp>
      <p:pic>
        <p:nvPicPr>
          <p:cNvPr id="3" name="Picture 2" descr="recon_e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34440"/>
            <a:ext cx="5588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Reconstruction examples - DDPM-generated</a:t>
            </a:r>
          </a:p>
          <a:p>
            <a:r>
              <a:rPr sz="1300">
                <a:solidFill>
                  <a:srgbClr val="555555"/>
                </a:solidFill>
              </a:rPr>
              <a:t>col 1 = input   ·   col 2 = CRUMB VQ-VAE reconstruction</a:t>
            </a:r>
          </a:p>
        </p:txBody>
      </p:sp>
      <p:pic>
        <p:nvPicPr>
          <p:cNvPr id="3" name="Picture 2" descr="recon_dd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34440"/>
            <a:ext cx="5588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Reconstruction examples - CGD-generated</a:t>
            </a:r>
          </a:p>
          <a:p>
            <a:r>
              <a:rPr sz="1300">
                <a:solidFill>
                  <a:srgbClr val="555555"/>
                </a:solidFill>
              </a:rPr>
              <a:t>col 1 = input   ·   col 2 = CRUMB VQ-VAE reconstruction</a:t>
            </a:r>
          </a:p>
        </p:txBody>
      </p:sp>
      <p:pic>
        <p:nvPicPr>
          <p:cNvPr id="3" name="Picture 2" descr="recon_c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34440"/>
            <a:ext cx="5588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Samples  (left cols FR-I  ·  right cols FR-II)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A44"/>
                </a:solidFill>
              </a:rPr>
              <a:t>Real CRUMB  (ground truth)</a:t>
            </a:r>
          </a:p>
        </p:txBody>
      </p:sp>
      <p:pic>
        <p:nvPicPr>
          <p:cNvPr id="4" name="Picture 3" descr="crumb_groundtruth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4846320" cy="2767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1430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A44"/>
                </a:solidFill>
              </a:rPr>
              <a:t>EDM baseline (latest, 400 ep) - epoch 320</a:t>
            </a:r>
          </a:p>
        </p:txBody>
      </p:sp>
      <p:pic>
        <p:nvPicPr>
          <p:cNvPr id="6" name="Picture 5" descr="comparison_epoch_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17320"/>
            <a:ext cx="484632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062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A44"/>
                </a:solidFill>
              </a:rPr>
              <a:t>DDPM (latest, 400 ep) - epoch 390</a:t>
            </a:r>
          </a:p>
        </p:txBody>
      </p:sp>
      <p:pic>
        <p:nvPicPr>
          <p:cNvPr id="8" name="Picture 7" descr="comparison_epoch_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80559"/>
            <a:ext cx="484632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2062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A44"/>
                </a:solidFill>
              </a:rPr>
              <a:t>CGD (latest, 400 ep) - epoch 390</a:t>
            </a:r>
          </a:p>
        </p:txBody>
      </p:sp>
      <p:pic>
        <p:nvPicPr>
          <p:cNvPr id="10" name="Picture 9" descr="comparison_epoch_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480559"/>
            <a:ext cx="4846320" cy="2423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