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Classifier-Guided, Physics-Informed Diffusion for Radio Galaxy Morphology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C7D3E8"/>
                </a:solidFill>
              </a:defRPr>
            </a:pPr>
            <a:r>
              <a:t>Bevan Slabbert  |  ZAMLA Seminar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Why Radio Galaxy Morphology?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Fanaroff-Riley classification (FR-I / FR-II) separates radio galaxies by jet structure:</a:t>
            </a:r>
          </a:p>
          <a:p>
            <a:pPr lvl="1"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–  FR-I — edge-darkened, jets fade with distance from the core</a:t>
            </a:r>
          </a:p>
          <a:p>
            <a:pPr lvl="1"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–  FR-II — edge-brightened, jets stay narrow all the way out to bright hotspots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The FR dichotomy is tied to jet power and AGN feedback physics — a key observable for galaxy evolution models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Modern/upcoming surveys (MeerKAT, SKA) will produce far more radio sources than can be classified by hand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Motivates: (1) automated classification, (2) generative models to augment scarce, expensive labeled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The Dataset: MiraBest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MiraBest — single homogeneous survey, expert-vetted, ~770 images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Binary FR-I / FR-II labels, 150×150 grayscale postage stamps</a:t>
            </a:r>
          </a:p>
        </p:txBody>
      </p:sp>
      <p:pic>
        <p:nvPicPr>
          <p:cNvPr id="5" name="Picture 4" descr="mirabest_true_fri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8707"/>
            <a:ext cx="2743200" cy="2731864"/>
          </a:xfrm>
          <a:prstGeom prst="rect">
            <a:avLst/>
          </a:prstGeom>
        </p:spPr>
      </p:pic>
      <p:pic>
        <p:nvPicPr>
          <p:cNvPr id="6" name="Picture 5" descr="mirabest_true_frii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468707"/>
            <a:ext cx="2743200" cy="2731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42519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55555"/>
                </a:solidFill>
              </a:defRPr>
            </a:pPr>
            <a:r>
              <a:t>FR-I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425196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55555"/>
                </a:solidFill>
              </a:defRPr>
            </a:pPr>
            <a:r>
              <a:t>FR-II examples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Project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1. Classifier — ResNet18, distinguishes FR-I / FR-II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2. Classifier-guided diffusion — class-conditional UNet + DDPM generates synthetic radio galaxies, steered by classifier feedback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3. Physics-informed constraints — bilateral symmetry + non-negative flux losses, grounded in AGN jet physics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Goal: generate physically-plausible, class-faithful synthetic radio galaxies to augment scarce labeled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Classification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MiraBest: ~90% test accuracy, consistent across multiple runs (88–94%)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Independently verified: a random-sample check of the saved model got 90/100 correct</a:t>
            </a:r>
          </a:p>
        </p:txBody>
      </p:sp>
      <p:pic>
        <p:nvPicPr>
          <p:cNvPr id="5" name="Picture 4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48790"/>
            <a:ext cx="5577840" cy="4183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617220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55555"/>
                </a:solidFill>
              </a:defRPr>
            </a:pPr>
            <a:r>
              <a:t>MiraBest confusion matrix — 90.9% accuracy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ResNet18: What We're Fine-Tuning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ResNet18 has ~11.2 million parameters, arranged in a stem + 4 residual "layer" blocks + a final classification head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Pretrained on ImageNet (natural photos) — the early layers learn general shape/edge features that transfer reasonably well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We freeze layer1–layer3 (the early/mid layers) and only fine-tune layer4 + the head on our radio galaxy images</a:t>
            </a:r>
          </a:p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layer4 still holds ~75% of all parameters — so "only fine-tuning one block" is not as small a change as it sounds</a:t>
            </a:r>
          </a:p>
        </p:txBody>
      </p:sp>
      <p:pic>
        <p:nvPicPr>
          <p:cNvPr id="5" name="Picture 4" descr="resnet18_finetu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567" y="3931920"/>
            <a:ext cx="8162385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Tightening Regularization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Added dropout before the final linear layer, on top of the layer-freezing from the previous slide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Fixed a real checkpoint bug: the saved model was the last epoch, not the best-val-loss epoch</a:t>
            </a:r>
          </a:p>
          <a:p>
            <a:pPr lvl="1"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–  Best-epoch weights were only restored in memory, never written back to disk</a:t>
            </a:r>
          </a:p>
          <a:p>
            <a:pPr lvl="1"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–  Now the saved checkpoint matches the reported test accuracy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Class-Conditional Diffusion Generation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UNet2DConditionModel + DDPM, 1000-step training schedule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Class embedding + classifier-free guidance (15% label dropout during training)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Generates distinct FR-I / FR-II morphology after ~250 epochs</a:t>
            </a:r>
          </a:p>
        </p:txBody>
      </p:sp>
      <p:pic>
        <p:nvPicPr>
          <p:cNvPr id="5" name="Picture 4" descr="comparison_epoch_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834640"/>
            <a:ext cx="713232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640080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55555"/>
                </a:solidFill>
              </a:defRPr>
            </a:pPr>
            <a:r>
              <a:t>Generated samples, epoch 250 — Class 0 (FR-I) vs Class 1 (FR-II)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Physics-Informed Diffusion (PID)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Adds two physics-motivated loss terms to generation:</a:t>
            </a:r>
          </a:p>
          <a:p>
            <a:pPr lvl="1"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–  Bilateral symmetry — radio jets are approximately symmetric about the core</a:t>
            </a:r>
          </a:p>
          <a:p>
            <a:pPr lvl="1">
              <a:spcAft>
                <a:spcPts val="1000"/>
              </a:spcAft>
              <a:defRPr sz="1700">
                <a:solidFill>
                  <a:srgbClr val="222222"/>
                </a:solidFill>
              </a:defRPr>
            </a:pPr>
            <a:r>
              <a:t>–  Non-negative flux — real flux measurements cannot be negative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Tuning finding: non-negativity loss was over-weighted and made images artificially bright — lambda_neg reduced to 0</a:t>
            </a:r>
          </a:p>
        </p:txBody>
      </p:sp>
      <p:pic>
        <p:nvPicPr>
          <p:cNvPr id="5" name="Picture 4" descr="comparison_epoch_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32004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6446520"/>
            <a:ext cx="7589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55555"/>
                </a:solidFill>
              </a:defRPr>
            </a:pPr>
            <a:r>
              <a:t>PID-generated samples, epoch 285 — FR-I vs FR-II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Real vs Generated: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22222"/>
                </a:solidFill>
              </a:defRPr>
            </a:pPr>
            <a:r>
              <a:t>•  Same class (FR-I / FR-II), three sources: a real MiraBest image, a plain diffusion sample, and a PID sample</a:t>
            </a:r>
          </a:p>
        </p:txBody>
      </p:sp>
      <p:pic>
        <p:nvPicPr>
          <p:cNvPr id="5" name="Picture 4" descr="true_vs_diffusion_vs_p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125" y="2011680"/>
            <a:ext cx="6759269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Measuring Generation Quality: Pixel Distribution 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Metric: Wasserstein-1 distance between the pixel-intensity distribution of real vs generated images (lower = closer match)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Tracked every few epochs during training, per class</a:t>
            </a:r>
          </a:p>
          <a:p>
            <a:pPr>
              <a:spcAft>
                <a:spcPts val="1000"/>
              </a:spcAft>
              <a:defRPr sz="1900">
                <a:solidFill>
                  <a:srgbClr val="222222"/>
                </a:solidFill>
              </a:defRPr>
            </a:pPr>
            <a:r>
              <a:t>•  Distance drops from ~0.12 (and spikes early on) down to ~0.02–0.05 by epoch 250+ — generated images increasingly match the real pixel statistics</a:t>
            </a:r>
          </a:p>
        </p:txBody>
      </p:sp>
      <p:pic>
        <p:nvPicPr>
          <p:cNvPr id="5" name="Picture 4" descr="pixel_pdf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3291840"/>
            <a:ext cx="5852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Summary of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Working FR-I/FR-II classifier: ~90% on MiraBest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Fixed two real bugs this week: overfitting-prone architecture, and a checkpoint/best-epoch mismatch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•  Working class-conditional diffusion generation, now with physics-informed constraints (PID)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B2A4A"/>
                </a:solidFill>
              </a:defRPr>
            </a:pPr>
            <a: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0116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Grow the training dataset with more labeled radio galaxy images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Wire up the robust classifier + guided-diffusion pipeline (currently not connected to the training dispatcher)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Try a VAE to encode and reconstruct images — test whether it preserves the real pixel/morphology distribution as well as diffusion does</a:t>
            </a:r>
          </a:p>
          <a:p>
            <a:pPr>
              <a:spcAft>
                <a:spcPts val="1000"/>
              </a:spcAft>
              <a:defRPr sz="2000">
                <a:solidFill>
                  <a:srgbClr val="222222"/>
                </a:solidFill>
              </a:defRPr>
            </a:pPr>
            <a:r>
              <a:t>•  Implement a classifier-confidence-based image-quality metric for generated samples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