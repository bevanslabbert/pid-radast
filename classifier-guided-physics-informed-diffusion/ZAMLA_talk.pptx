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70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7"/>
    <p:restoredTop sz="94564"/>
  </p:normalViewPr>
  <p:slideViewPr>
    <p:cSldViewPr snapToGrid="0" snapToObjects="1">
      <p:cViewPr varScale="1">
        <p:scale>
          <a:sx n="115" d="100"/>
          <a:sy n="115" d="100"/>
        </p:scale>
        <p:origin x="4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Classifier-Guided, Physics-Informed Diffusion for Radio Galaxy Morphology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7D3E8"/>
                </a:solidFill>
              </a:defRPr>
            </a:pPr>
            <a:r>
              <a:t>Bevan Slabbert  |  ZAMLA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Why Radio Galaxy Morphology?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Modern/upcoming surveys (</a:t>
            </a:r>
            <a:r>
              <a:rPr dirty="0" err="1"/>
              <a:t>MeerKAT</a:t>
            </a:r>
            <a:r>
              <a:rPr dirty="0"/>
              <a:t>, SKA) will produce far more radio sources than can be classified by hand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Motivates: (1) automated classification, (2) generative models to augment scarce</a:t>
            </a:r>
            <a:r>
              <a:rPr lang="en-US" dirty="0"/>
              <a:t> </a:t>
            </a:r>
            <a:r>
              <a:rPr dirty="0"/>
              <a:t>data</a:t>
            </a:r>
            <a:r>
              <a:rPr lang="en-US" dirty="0"/>
              <a:t> to counter under-representation of entities in downstream machine learning tasks.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The Dataset: MiraBest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</a:t>
            </a:r>
            <a:r>
              <a:rPr dirty="0" err="1"/>
              <a:t>MiraBest</a:t>
            </a:r>
            <a:r>
              <a:rPr dirty="0"/>
              <a:t> — single homogeneous survey, expert-vetted, ~770 images</a:t>
            </a:r>
            <a:endParaRPr lang="en-US" dirty="0"/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lang="en-ZA" dirty="0"/>
              <a:t>•  Binary FR-I / FR-II labels, 150×150 grayscale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251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FR-I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4251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FR-II examples</a:t>
            </a:r>
          </a:p>
        </p:txBody>
      </p:sp>
      <p:pic>
        <p:nvPicPr>
          <p:cNvPr id="9" name="Picture 8" descr="mirabest_true_fri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8707"/>
            <a:ext cx="2743200" cy="2731864"/>
          </a:xfrm>
          <a:prstGeom prst="rect">
            <a:avLst/>
          </a:prstGeom>
        </p:spPr>
      </p:pic>
      <p:pic>
        <p:nvPicPr>
          <p:cNvPr id="10" name="Picture 9" descr="mirabest_true_frii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68707"/>
            <a:ext cx="2743200" cy="2731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1ADC-2AF2-1601-A441-BF4F1979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35F0FE-65F4-1C8C-5492-4B03002E5621}"/>
              </a:ext>
            </a:extLst>
          </p:cNvPr>
          <p:cNvSpPr txBox="1"/>
          <p:nvPr/>
        </p:nvSpPr>
        <p:spPr>
          <a:xfrm>
            <a:off x="548640" y="32004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rPr lang="en-US" dirty="0"/>
              <a:t>Image Generation with Diffusion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EC5A7-80C9-DCA8-DF70-BF65C5103F62}"/>
              </a:ext>
            </a:extLst>
          </p:cNvPr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• Forward process gradually adds Gaussian noise to a real image over T steps (fixed, not learned)</a:t>
            </a:r>
          </a:p>
          <a:p>
            <a:r>
              <a:rPr sz="1800">
                <a:solidFill>
                  <a:srgbClr val="222222"/>
                </a:solidFill>
              </a:rPr>
              <a:t>• Reverse process learns to remove noise step by step, turning pure noise back into an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000" y="2700000"/>
            <a:ext cx="1500000" cy="14000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416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</a:rPr>
              <a:t>x0
(image)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3000" y="2700000"/>
            <a:ext cx="1500000" cy="1400000"/>
          </a:xfrm>
          <a:prstGeom prst="roundRect">
            <a:avLst/>
          </a:prstGeom>
          <a:solidFill>
            <a:srgbClr val="498BB7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3000" y="416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</a:rPr>
              <a:t>x1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6000" y="2700000"/>
            <a:ext cx="1500000" cy="1400000"/>
          </a:xfrm>
          <a:prstGeom prst="roundRect">
            <a:avLst/>
          </a:prstGeom>
          <a:solidFill>
            <a:srgbClr val="6490AD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6000" y="416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</a:rPr>
              <a:t>x2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000" y="2700000"/>
            <a:ext cx="1500000" cy="1400000"/>
          </a:xfrm>
          <a:prstGeom prst="roundRect">
            <a:avLst/>
          </a:prstGeom>
          <a:solidFill>
            <a:srgbClr val="7F95A3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9000" y="416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</a:rPr>
              <a:t>x3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92000" y="2700000"/>
            <a:ext cx="1500000" cy="1400000"/>
          </a:xfrm>
          <a:prstGeom prst="roundRect">
            <a:avLst/>
          </a:prstGeom>
          <a:solidFill>
            <a:srgbClr val="9A9A9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92000" y="416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</a:rPr>
              <a:t>xT
(noise)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00000" y="2250000"/>
            <a:ext cx="7592000" cy="26000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0000" y="1870000"/>
            <a:ext cx="7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555555"/>
                </a:solidFill>
              </a:rPr>
              <a:t>Forward process: add noise  q(xt | xt-1)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2300000" y="4560000"/>
            <a:ext cx="7592000" cy="260000"/>
          </a:xfrm>
          <a:prstGeom prst="leftArrow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0000" y="4860000"/>
            <a:ext cx="7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555555"/>
                </a:solidFill>
              </a:rPr>
              <a:t>Reverse process: predict &amp; remove noise  p(theta)(xt-1 | xt) - learned by U-Net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2000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</a:rPr>
              <a:t>Training: the U-Net learns to predict the noise added at each step; generation runs the reverse process from pure noise.</a:t>
            </a:r>
          </a:p>
        </p:txBody>
      </p:sp>
    </p:spTree>
    <p:extLst>
      <p:ext uri="{BB962C8B-B14F-4D97-AF65-F5344CB8AC3E}">
        <p14:creationId xmlns:p14="http://schemas.microsoft.com/office/powerpoint/2010/main" val="121517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rPr dirty="0"/>
              <a:t>Data Pipeline: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Training prep —</a:t>
            </a:r>
            <a:r>
              <a:rPr lang="en-US" dirty="0"/>
              <a:t> </a:t>
            </a:r>
            <a:r>
              <a:rPr dirty="0"/>
              <a:t>convert</a:t>
            </a:r>
            <a:r>
              <a:rPr lang="en-US" dirty="0"/>
              <a:t> </a:t>
            </a:r>
            <a:r>
              <a:rPr dirty="0"/>
              <a:t>each </a:t>
            </a:r>
            <a:r>
              <a:rPr dirty="0" err="1"/>
              <a:t>MiraBest</a:t>
            </a:r>
            <a:r>
              <a:rPr dirty="0"/>
              <a:t> FITS </a:t>
            </a:r>
            <a:r>
              <a:rPr lang="en-ZA" dirty="0"/>
              <a:t>image with the same </a:t>
            </a:r>
            <a:r>
              <a:rPr lang="en-ZA" dirty="0" err="1"/>
              <a:t>sym</a:t>
            </a:r>
            <a:r>
              <a:rPr lang="en-ZA" dirty="0"/>
              <a:t>-log-SNR normalisation used at train time (clipped to [-1, 1])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</a:t>
            </a:r>
            <a:r>
              <a:rPr lang="en-US" dirty="0"/>
              <a:t> Diffusion model trained on the transformed/normalized data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After generation — diffusion output tensors are inverted with </a:t>
            </a:r>
            <a:r>
              <a:rPr lang="en-US" dirty="0"/>
              <a:t>a denormalization function </a:t>
            </a:r>
            <a:r>
              <a:rPr dirty="0"/>
              <a:t>(</a:t>
            </a:r>
            <a:r>
              <a:rPr dirty="0" err="1"/>
              <a:t>sym</a:t>
            </a:r>
            <a:r>
              <a:rPr dirty="0"/>
              <a:t>-log-SNR → approximate Jy/beam) and written back out as real FITS files</a:t>
            </a:r>
            <a:endParaRPr lang="en-Z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Project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•  1. Classifier — ResNet18, distinguishes FR-I / FR-II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•  2. </a:t>
            </a:r>
            <a:r>
              <a:rPr lang="en-US" dirty="0"/>
              <a:t>D</a:t>
            </a:r>
            <a:r>
              <a:rPr dirty="0"/>
              <a:t>iffusion —</a:t>
            </a:r>
            <a:r>
              <a:rPr lang="en-US" dirty="0"/>
              <a:t> </a:t>
            </a:r>
            <a:r>
              <a:rPr dirty="0"/>
              <a:t>DDPM generates synthetic radio galaxies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•  3. Physics-informed constraints — bilateral symmetry + non-negative flux losse</a:t>
            </a:r>
            <a:r>
              <a:rPr lang="en-US" dirty="0"/>
              <a:t>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lang="en-ZA" dirty="0"/>
              <a:t>•  4. </a:t>
            </a:r>
            <a:r>
              <a:rPr lang="en-US" dirty="0"/>
              <a:t>Incorporate physical constraints during training, classifier guidance during second stage of diffusion training.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br>
              <a:rPr lang="en-US" dirty="0"/>
            </a:br>
            <a:r>
              <a:rPr dirty="0"/>
              <a:t>•  Goal: generate physically-plausible, class-faithful synthetic radio galaxies to augment scarce labeled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Classification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</a:t>
            </a:r>
            <a:r>
              <a:rPr dirty="0" err="1"/>
              <a:t>MiraBest</a:t>
            </a:r>
            <a:r>
              <a:rPr dirty="0"/>
              <a:t>: ~90% test accuracy, consistent across multiple runs (88–94%)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Independently verified: a random-sample check of the saved model got 90/100 correct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48790"/>
            <a:ext cx="5577840" cy="4183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17220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MiraBest confusion matrix — 90.9%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ResNet18: What We're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ResNet18 has ~11.2 million parameters, arranged in a stem + 4 residual "layer" blocks + a final classification head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Pretrained on ImageNet (natural photos) — the early layers learn general shape/edge features that transfer reasonably well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We freeze layer1–layer3 (the early/mid layers) and only fine-tune layer4 + the head on our radio galaxy images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rPr dirty="0"/>
              <a:t>•  layer4 still holds ~75% of all parameters — so "only fine-tuning one block" is not as small a change as it sounds</a:t>
            </a:r>
          </a:p>
        </p:txBody>
      </p:sp>
      <p:pic>
        <p:nvPicPr>
          <p:cNvPr id="5" name="Picture 4" descr="resnet18_finetu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67" y="3931920"/>
            <a:ext cx="8162385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Class-Conditional Diffusion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lang="en-ZA" dirty="0"/>
              <a:t>• Diffusion model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Generates distinct FR-I / FR-II morphology after ~250 epochs</a:t>
            </a:r>
          </a:p>
        </p:txBody>
      </p:sp>
      <p:pic>
        <p:nvPicPr>
          <p:cNvPr id="5" name="Picture 4" descr="comparison_epoch_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34640"/>
            <a:ext cx="713232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640080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Generated samples, epoch 250 — Class 0 (FR-I) vs Class 1 (FR-II)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Physics-Informed Diffusion (PID)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rPr dirty="0"/>
              <a:t>•  Adds physics-motivated loss terms to generation:</a:t>
            </a:r>
          </a:p>
          <a:p>
            <a:pPr lvl="1"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–  Bilateral symmetry — radio jets are approximately symmetric about the core</a:t>
            </a:r>
          </a:p>
        </p:txBody>
      </p:sp>
      <p:pic>
        <p:nvPicPr>
          <p:cNvPr id="5" name="Picture 4" descr="comparison_epoch_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2004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644652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PID-generated samples, epoch 285 — FR-I vs FR-II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Real vs Generated: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Same class (FR-I / FR-II), three sources: a real MiraBest image, a plain diffusion sample, and a PID sample</a:t>
            </a:r>
          </a:p>
        </p:txBody>
      </p:sp>
      <p:pic>
        <p:nvPicPr>
          <p:cNvPr id="5" name="Picture 4" descr="slide10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125" y="2011680"/>
            <a:ext cx="675926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Measuring Generation Quality: Pixel Distribution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Metric: Wasserstein-1 distance between the pixel-intensity distribution of real vs generated images (lower = closer match)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Tracked every few epochs during training, per class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•  Distance drops from ~0.12 (and spikes early on) down to ~0.02–0.05 by epoch 250+ — generated images increasingly match the real pixel statistics</a:t>
            </a:r>
          </a:p>
        </p:txBody>
      </p:sp>
      <p:pic>
        <p:nvPicPr>
          <p:cNvPr id="5" name="Picture 4" descr="pixel_pdf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291840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Wire up the robust classifier + guided-diffusion pipeline (currently not connected to the training dispatcher)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Try a VAE to encode and reconstruct images — test whether it preserves the real pixel/morphology distribution as well as diffusion does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rPr dirty="0"/>
              <a:t>•  Implement a classifier-confidence-based image-quality metric for generated samples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712</Words>
  <Application>Microsoft Macintosh PowerPoint</Application>
  <PresentationFormat>Widescreen</PresentationFormat>
  <Paragraphs>59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Bevan Slabbert</cp:lastModifiedBy>
  <cp:revision>20</cp:revision>
  <dcterms:created xsi:type="dcterms:W3CDTF">2013-01-27T09:14:16Z</dcterms:created>
  <dcterms:modified xsi:type="dcterms:W3CDTF">2026-07-09T10:34:36Z</dcterms:modified>
  <cp:category/>
</cp:coreProperties>
</file>